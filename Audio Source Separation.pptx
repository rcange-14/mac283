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3" r:id="rId10"/>
    <p:sldId id="264" r:id="rId11"/>
    <p:sldId id="265" r:id="rId12"/>
    <p:sldId id="267" r:id="rId13"/>
    <p:sldId id="266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8D0520-C14E-4462-B66E-4F87676A724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87EADE3-91E3-408A-B70F-37126859A6B4}">
      <dgm:prSet/>
      <dgm:spPr/>
      <dgm:t>
        <a:bodyPr/>
        <a:lstStyle/>
        <a:p>
          <a:pPr>
            <a:defRPr cap="all"/>
          </a:pPr>
          <a:r>
            <a:rPr lang="en-US" b="1" i="0"/>
            <a:t>Music Production and Remixing</a:t>
          </a:r>
          <a:endParaRPr lang="en-US"/>
        </a:p>
      </dgm:t>
    </dgm:pt>
    <dgm:pt modelId="{544F2A61-2BBF-4E6E-B34D-88C97D3D1519}" type="parTrans" cxnId="{9772E1B5-61EC-4B5A-8CF4-F59272584866}">
      <dgm:prSet/>
      <dgm:spPr/>
      <dgm:t>
        <a:bodyPr/>
        <a:lstStyle/>
        <a:p>
          <a:endParaRPr lang="en-US"/>
        </a:p>
      </dgm:t>
    </dgm:pt>
    <dgm:pt modelId="{2B6DB690-5770-4499-AE33-4F86832DF787}" type="sibTrans" cxnId="{9772E1B5-61EC-4B5A-8CF4-F59272584866}">
      <dgm:prSet/>
      <dgm:spPr/>
      <dgm:t>
        <a:bodyPr/>
        <a:lstStyle/>
        <a:p>
          <a:endParaRPr lang="en-US"/>
        </a:p>
      </dgm:t>
    </dgm:pt>
    <dgm:pt modelId="{13EFC2F8-07CC-4495-94A6-EBF92E8C5762}">
      <dgm:prSet/>
      <dgm:spPr/>
      <dgm:t>
        <a:bodyPr/>
        <a:lstStyle/>
        <a:p>
          <a:pPr>
            <a:defRPr cap="all"/>
          </a:pPr>
          <a:r>
            <a:rPr lang="en-US" b="1" i="0"/>
            <a:t>Noise Cancellation in Headphones</a:t>
          </a:r>
          <a:endParaRPr lang="en-US"/>
        </a:p>
      </dgm:t>
    </dgm:pt>
    <dgm:pt modelId="{2A3601AC-86BD-4D0E-95C7-C3FBD8428F0F}" type="parTrans" cxnId="{C193C55B-0D91-4AAB-815F-5133D496884B}">
      <dgm:prSet/>
      <dgm:spPr/>
      <dgm:t>
        <a:bodyPr/>
        <a:lstStyle/>
        <a:p>
          <a:endParaRPr lang="en-US"/>
        </a:p>
      </dgm:t>
    </dgm:pt>
    <dgm:pt modelId="{1E8F5DE0-3EFB-4967-800F-4587B2834396}" type="sibTrans" cxnId="{C193C55B-0D91-4AAB-815F-5133D496884B}">
      <dgm:prSet/>
      <dgm:spPr/>
      <dgm:t>
        <a:bodyPr/>
        <a:lstStyle/>
        <a:p>
          <a:endParaRPr lang="en-US"/>
        </a:p>
      </dgm:t>
    </dgm:pt>
    <dgm:pt modelId="{4CB720ED-F795-4B20-A21D-3A14431C5716}">
      <dgm:prSet/>
      <dgm:spPr/>
      <dgm:t>
        <a:bodyPr/>
        <a:lstStyle/>
        <a:p>
          <a:pPr>
            <a:defRPr cap="all"/>
          </a:pPr>
          <a:r>
            <a:rPr lang="en-US" b="1" i="0"/>
            <a:t>Voice Assistants</a:t>
          </a:r>
          <a:endParaRPr lang="en-US"/>
        </a:p>
      </dgm:t>
    </dgm:pt>
    <dgm:pt modelId="{0BFE4361-3F91-4F13-898D-C2EE5858D700}" type="parTrans" cxnId="{80EF23D7-8EA0-41CD-A09D-77D754FAB3D3}">
      <dgm:prSet/>
      <dgm:spPr/>
      <dgm:t>
        <a:bodyPr/>
        <a:lstStyle/>
        <a:p>
          <a:endParaRPr lang="en-US"/>
        </a:p>
      </dgm:t>
    </dgm:pt>
    <dgm:pt modelId="{477B8FF5-0FF8-4712-96B7-02D234E0B542}" type="sibTrans" cxnId="{80EF23D7-8EA0-41CD-A09D-77D754FAB3D3}">
      <dgm:prSet/>
      <dgm:spPr/>
      <dgm:t>
        <a:bodyPr/>
        <a:lstStyle/>
        <a:p>
          <a:endParaRPr lang="en-US"/>
        </a:p>
      </dgm:t>
    </dgm:pt>
    <dgm:pt modelId="{4E63B558-D887-4367-BB72-7174BFD97EB1}" type="pres">
      <dgm:prSet presAssocID="{BF8D0520-C14E-4462-B66E-4F87676A7249}" presName="root" presStyleCnt="0">
        <dgm:presLayoutVars>
          <dgm:dir/>
          <dgm:resizeHandles val="exact"/>
        </dgm:presLayoutVars>
      </dgm:prSet>
      <dgm:spPr/>
    </dgm:pt>
    <dgm:pt modelId="{48B5FDB0-D0C7-48CA-9C77-34AD1DAF7379}" type="pres">
      <dgm:prSet presAssocID="{887EADE3-91E3-408A-B70F-37126859A6B4}" presName="compNode" presStyleCnt="0"/>
      <dgm:spPr/>
    </dgm:pt>
    <dgm:pt modelId="{C4450E93-6182-40E1-8DCA-5F362CFE88AE}" type="pres">
      <dgm:prSet presAssocID="{887EADE3-91E3-408A-B70F-37126859A6B4}" presName="iconBgRect" presStyleLbl="bgShp" presStyleIdx="0" presStyleCnt="3"/>
      <dgm:spPr/>
    </dgm:pt>
    <dgm:pt modelId="{C424E6C3-146C-4515-AB05-61DBC483DC6E}" type="pres">
      <dgm:prSet presAssocID="{887EADE3-91E3-408A-B70F-37126859A6B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usic"/>
        </a:ext>
      </dgm:extLst>
    </dgm:pt>
    <dgm:pt modelId="{A81DD048-A6DF-47E0-B345-48347079ADB4}" type="pres">
      <dgm:prSet presAssocID="{887EADE3-91E3-408A-B70F-37126859A6B4}" presName="spaceRect" presStyleCnt="0"/>
      <dgm:spPr/>
    </dgm:pt>
    <dgm:pt modelId="{D6A04160-5B9D-4A99-A691-5ED57FDE4DED}" type="pres">
      <dgm:prSet presAssocID="{887EADE3-91E3-408A-B70F-37126859A6B4}" presName="textRect" presStyleLbl="revTx" presStyleIdx="0" presStyleCnt="3">
        <dgm:presLayoutVars>
          <dgm:chMax val="1"/>
          <dgm:chPref val="1"/>
        </dgm:presLayoutVars>
      </dgm:prSet>
      <dgm:spPr/>
    </dgm:pt>
    <dgm:pt modelId="{69EB29A3-4C79-44FE-8789-5E56A56D88C4}" type="pres">
      <dgm:prSet presAssocID="{2B6DB690-5770-4499-AE33-4F86832DF787}" presName="sibTrans" presStyleCnt="0"/>
      <dgm:spPr/>
    </dgm:pt>
    <dgm:pt modelId="{DE824F33-0FDB-4CAE-B0EB-BE5B83132C75}" type="pres">
      <dgm:prSet presAssocID="{13EFC2F8-07CC-4495-94A6-EBF92E8C5762}" presName="compNode" presStyleCnt="0"/>
      <dgm:spPr/>
    </dgm:pt>
    <dgm:pt modelId="{207C33C1-9451-48FD-A4DE-628AF671A384}" type="pres">
      <dgm:prSet presAssocID="{13EFC2F8-07CC-4495-94A6-EBF92E8C5762}" presName="iconBgRect" presStyleLbl="bgShp" presStyleIdx="1" presStyleCnt="3"/>
      <dgm:spPr/>
    </dgm:pt>
    <dgm:pt modelId="{487A5F38-FB2F-490C-83A6-1B758646C82E}" type="pres">
      <dgm:prSet presAssocID="{13EFC2F8-07CC-4495-94A6-EBF92E8C576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phones"/>
        </a:ext>
      </dgm:extLst>
    </dgm:pt>
    <dgm:pt modelId="{88952B89-40D2-4D38-B253-16B92036508D}" type="pres">
      <dgm:prSet presAssocID="{13EFC2F8-07CC-4495-94A6-EBF92E8C5762}" presName="spaceRect" presStyleCnt="0"/>
      <dgm:spPr/>
    </dgm:pt>
    <dgm:pt modelId="{B67C9D6B-3CBD-414B-9726-F80DBD3EE1D5}" type="pres">
      <dgm:prSet presAssocID="{13EFC2F8-07CC-4495-94A6-EBF92E8C5762}" presName="textRect" presStyleLbl="revTx" presStyleIdx="1" presStyleCnt="3">
        <dgm:presLayoutVars>
          <dgm:chMax val="1"/>
          <dgm:chPref val="1"/>
        </dgm:presLayoutVars>
      </dgm:prSet>
      <dgm:spPr/>
    </dgm:pt>
    <dgm:pt modelId="{0B7C56EC-6AA6-45D0-B224-16EA89C57920}" type="pres">
      <dgm:prSet presAssocID="{1E8F5DE0-3EFB-4967-800F-4587B2834396}" presName="sibTrans" presStyleCnt="0"/>
      <dgm:spPr/>
    </dgm:pt>
    <dgm:pt modelId="{D958E061-5170-4175-A51A-C08CBCF06F79}" type="pres">
      <dgm:prSet presAssocID="{4CB720ED-F795-4B20-A21D-3A14431C5716}" presName="compNode" presStyleCnt="0"/>
      <dgm:spPr/>
    </dgm:pt>
    <dgm:pt modelId="{7C1EA757-54A1-4167-90BE-34D4F10098F0}" type="pres">
      <dgm:prSet presAssocID="{4CB720ED-F795-4B20-A21D-3A14431C5716}" presName="iconBgRect" presStyleLbl="bgShp" presStyleIdx="2" presStyleCnt="3"/>
      <dgm:spPr/>
    </dgm:pt>
    <dgm:pt modelId="{93F5CBC1-08C5-4C96-A700-7A6432290EF5}" type="pres">
      <dgm:prSet presAssocID="{4CB720ED-F795-4B20-A21D-3A14431C571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io microphone"/>
        </a:ext>
      </dgm:extLst>
    </dgm:pt>
    <dgm:pt modelId="{7A158177-BEA1-4AD9-8750-0792BF14FCCD}" type="pres">
      <dgm:prSet presAssocID="{4CB720ED-F795-4B20-A21D-3A14431C5716}" presName="spaceRect" presStyleCnt="0"/>
      <dgm:spPr/>
    </dgm:pt>
    <dgm:pt modelId="{11F7C81F-F93D-4195-8D50-DC45EA3AB3AD}" type="pres">
      <dgm:prSet presAssocID="{4CB720ED-F795-4B20-A21D-3A14431C571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4228311-7541-4240-B8C3-4A46C6F113AB}" type="presOf" srcId="{4CB720ED-F795-4B20-A21D-3A14431C5716}" destId="{11F7C81F-F93D-4195-8D50-DC45EA3AB3AD}" srcOrd="0" destOrd="0" presId="urn:microsoft.com/office/officeart/2018/5/layout/IconCircleLabelList"/>
    <dgm:cxn modelId="{C80C6040-5029-4674-8045-5AD505279949}" type="presOf" srcId="{887EADE3-91E3-408A-B70F-37126859A6B4}" destId="{D6A04160-5B9D-4A99-A691-5ED57FDE4DED}" srcOrd="0" destOrd="0" presId="urn:microsoft.com/office/officeart/2018/5/layout/IconCircleLabelList"/>
    <dgm:cxn modelId="{C193C55B-0D91-4AAB-815F-5133D496884B}" srcId="{BF8D0520-C14E-4462-B66E-4F87676A7249}" destId="{13EFC2F8-07CC-4495-94A6-EBF92E8C5762}" srcOrd="1" destOrd="0" parTransId="{2A3601AC-86BD-4D0E-95C7-C3FBD8428F0F}" sibTransId="{1E8F5DE0-3EFB-4967-800F-4587B2834396}"/>
    <dgm:cxn modelId="{932FF881-C039-4BEA-949A-521988223F1E}" type="presOf" srcId="{BF8D0520-C14E-4462-B66E-4F87676A7249}" destId="{4E63B558-D887-4367-BB72-7174BFD97EB1}" srcOrd="0" destOrd="0" presId="urn:microsoft.com/office/officeart/2018/5/layout/IconCircleLabelList"/>
    <dgm:cxn modelId="{9772E1B5-61EC-4B5A-8CF4-F59272584866}" srcId="{BF8D0520-C14E-4462-B66E-4F87676A7249}" destId="{887EADE3-91E3-408A-B70F-37126859A6B4}" srcOrd="0" destOrd="0" parTransId="{544F2A61-2BBF-4E6E-B34D-88C97D3D1519}" sibTransId="{2B6DB690-5770-4499-AE33-4F86832DF787}"/>
    <dgm:cxn modelId="{80EF23D7-8EA0-41CD-A09D-77D754FAB3D3}" srcId="{BF8D0520-C14E-4462-B66E-4F87676A7249}" destId="{4CB720ED-F795-4B20-A21D-3A14431C5716}" srcOrd="2" destOrd="0" parTransId="{0BFE4361-3F91-4F13-898D-C2EE5858D700}" sibTransId="{477B8FF5-0FF8-4712-96B7-02D234E0B542}"/>
    <dgm:cxn modelId="{8ED7C6F0-C726-4DC9-81BF-4D33E0FA55ED}" type="presOf" srcId="{13EFC2F8-07CC-4495-94A6-EBF92E8C5762}" destId="{B67C9D6B-3CBD-414B-9726-F80DBD3EE1D5}" srcOrd="0" destOrd="0" presId="urn:microsoft.com/office/officeart/2018/5/layout/IconCircleLabelList"/>
    <dgm:cxn modelId="{C3C2CFFA-9D7C-4139-9398-9E54F30A7DCD}" type="presParOf" srcId="{4E63B558-D887-4367-BB72-7174BFD97EB1}" destId="{48B5FDB0-D0C7-48CA-9C77-34AD1DAF7379}" srcOrd="0" destOrd="0" presId="urn:microsoft.com/office/officeart/2018/5/layout/IconCircleLabelList"/>
    <dgm:cxn modelId="{9EAE8A16-2F88-4E32-85E1-DA0CBD5279BB}" type="presParOf" srcId="{48B5FDB0-D0C7-48CA-9C77-34AD1DAF7379}" destId="{C4450E93-6182-40E1-8DCA-5F362CFE88AE}" srcOrd="0" destOrd="0" presId="urn:microsoft.com/office/officeart/2018/5/layout/IconCircleLabelList"/>
    <dgm:cxn modelId="{FD0AFCCD-0923-445B-9BF4-A49D7854F119}" type="presParOf" srcId="{48B5FDB0-D0C7-48CA-9C77-34AD1DAF7379}" destId="{C424E6C3-146C-4515-AB05-61DBC483DC6E}" srcOrd="1" destOrd="0" presId="urn:microsoft.com/office/officeart/2018/5/layout/IconCircleLabelList"/>
    <dgm:cxn modelId="{F57D11FE-02CB-492D-91A2-65DEE317E491}" type="presParOf" srcId="{48B5FDB0-D0C7-48CA-9C77-34AD1DAF7379}" destId="{A81DD048-A6DF-47E0-B345-48347079ADB4}" srcOrd="2" destOrd="0" presId="urn:microsoft.com/office/officeart/2018/5/layout/IconCircleLabelList"/>
    <dgm:cxn modelId="{7B14B855-54B1-4AE0-8758-0C657FE2803C}" type="presParOf" srcId="{48B5FDB0-D0C7-48CA-9C77-34AD1DAF7379}" destId="{D6A04160-5B9D-4A99-A691-5ED57FDE4DED}" srcOrd="3" destOrd="0" presId="urn:microsoft.com/office/officeart/2018/5/layout/IconCircleLabelList"/>
    <dgm:cxn modelId="{56EE3E34-52BA-463F-8219-4BCC560A2922}" type="presParOf" srcId="{4E63B558-D887-4367-BB72-7174BFD97EB1}" destId="{69EB29A3-4C79-44FE-8789-5E56A56D88C4}" srcOrd="1" destOrd="0" presId="urn:microsoft.com/office/officeart/2018/5/layout/IconCircleLabelList"/>
    <dgm:cxn modelId="{A49317F8-7D27-49E1-BAED-19DC6DCCF358}" type="presParOf" srcId="{4E63B558-D887-4367-BB72-7174BFD97EB1}" destId="{DE824F33-0FDB-4CAE-B0EB-BE5B83132C75}" srcOrd="2" destOrd="0" presId="urn:microsoft.com/office/officeart/2018/5/layout/IconCircleLabelList"/>
    <dgm:cxn modelId="{32EEFC45-809B-4213-9435-731410B1CB40}" type="presParOf" srcId="{DE824F33-0FDB-4CAE-B0EB-BE5B83132C75}" destId="{207C33C1-9451-48FD-A4DE-628AF671A384}" srcOrd="0" destOrd="0" presId="urn:microsoft.com/office/officeart/2018/5/layout/IconCircleLabelList"/>
    <dgm:cxn modelId="{8EE7C71F-6D21-433A-96A2-B78AF402FD72}" type="presParOf" srcId="{DE824F33-0FDB-4CAE-B0EB-BE5B83132C75}" destId="{487A5F38-FB2F-490C-83A6-1B758646C82E}" srcOrd="1" destOrd="0" presId="urn:microsoft.com/office/officeart/2018/5/layout/IconCircleLabelList"/>
    <dgm:cxn modelId="{374824DA-62EF-4823-8E16-C33F7334AF44}" type="presParOf" srcId="{DE824F33-0FDB-4CAE-B0EB-BE5B83132C75}" destId="{88952B89-40D2-4D38-B253-16B92036508D}" srcOrd="2" destOrd="0" presId="urn:microsoft.com/office/officeart/2018/5/layout/IconCircleLabelList"/>
    <dgm:cxn modelId="{5CB2D66C-AB7D-4679-8EEC-5925F26F61EC}" type="presParOf" srcId="{DE824F33-0FDB-4CAE-B0EB-BE5B83132C75}" destId="{B67C9D6B-3CBD-414B-9726-F80DBD3EE1D5}" srcOrd="3" destOrd="0" presId="urn:microsoft.com/office/officeart/2018/5/layout/IconCircleLabelList"/>
    <dgm:cxn modelId="{C461392A-A9F6-41A3-8D7E-2DADE0C47C7A}" type="presParOf" srcId="{4E63B558-D887-4367-BB72-7174BFD97EB1}" destId="{0B7C56EC-6AA6-45D0-B224-16EA89C57920}" srcOrd="3" destOrd="0" presId="urn:microsoft.com/office/officeart/2018/5/layout/IconCircleLabelList"/>
    <dgm:cxn modelId="{37024AE4-E86C-4C34-B44C-7EFAAAC28E0D}" type="presParOf" srcId="{4E63B558-D887-4367-BB72-7174BFD97EB1}" destId="{D958E061-5170-4175-A51A-C08CBCF06F79}" srcOrd="4" destOrd="0" presId="urn:microsoft.com/office/officeart/2018/5/layout/IconCircleLabelList"/>
    <dgm:cxn modelId="{633C2A18-68DF-4EF7-AF44-9F6B93A4AF71}" type="presParOf" srcId="{D958E061-5170-4175-A51A-C08CBCF06F79}" destId="{7C1EA757-54A1-4167-90BE-34D4F10098F0}" srcOrd="0" destOrd="0" presId="urn:microsoft.com/office/officeart/2018/5/layout/IconCircleLabelList"/>
    <dgm:cxn modelId="{DEC0664A-739E-4682-9FBA-03296E198273}" type="presParOf" srcId="{D958E061-5170-4175-A51A-C08CBCF06F79}" destId="{93F5CBC1-08C5-4C96-A700-7A6432290EF5}" srcOrd="1" destOrd="0" presId="urn:microsoft.com/office/officeart/2018/5/layout/IconCircleLabelList"/>
    <dgm:cxn modelId="{F73FF82E-00E4-4044-AD5B-7FB704A80029}" type="presParOf" srcId="{D958E061-5170-4175-A51A-C08CBCF06F79}" destId="{7A158177-BEA1-4AD9-8750-0792BF14FCCD}" srcOrd="2" destOrd="0" presId="urn:microsoft.com/office/officeart/2018/5/layout/IconCircleLabelList"/>
    <dgm:cxn modelId="{B43AC5F4-CDA5-44FE-89C0-C1A04846A810}" type="presParOf" srcId="{D958E061-5170-4175-A51A-C08CBCF06F79}" destId="{11F7C81F-F93D-4195-8D50-DC45EA3AB3A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450E93-6182-40E1-8DCA-5F362CFE88AE}">
      <dsp:nvSpPr>
        <dsp:cNvPr id="0" name=""/>
        <dsp:cNvSpPr/>
      </dsp:nvSpPr>
      <dsp:spPr>
        <a:xfrm>
          <a:off x="681337" y="282374"/>
          <a:ext cx="1852875" cy="185287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24E6C3-146C-4515-AB05-61DBC483DC6E}">
      <dsp:nvSpPr>
        <dsp:cNvPr id="0" name=""/>
        <dsp:cNvSpPr/>
      </dsp:nvSpPr>
      <dsp:spPr>
        <a:xfrm>
          <a:off x="1076212" y="677249"/>
          <a:ext cx="1063125" cy="10631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A04160-5B9D-4A99-A691-5ED57FDE4DED}">
      <dsp:nvSpPr>
        <dsp:cNvPr id="0" name=""/>
        <dsp:cNvSpPr/>
      </dsp:nvSpPr>
      <dsp:spPr>
        <a:xfrm>
          <a:off x="89024" y="2712375"/>
          <a:ext cx="30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b="1" i="0" kern="1200"/>
            <a:t>Music Production and Remixing</a:t>
          </a:r>
          <a:endParaRPr lang="en-US" sz="2100" kern="1200"/>
        </a:p>
      </dsp:txBody>
      <dsp:txXfrm>
        <a:off x="89024" y="2712375"/>
        <a:ext cx="3037500" cy="720000"/>
      </dsp:txXfrm>
    </dsp:sp>
    <dsp:sp modelId="{207C33C1-9451-48FD-A4DE-628AF671A384}">
      <dsp:nvSpPr>
        <dsp:cNvPr id="0" name=""/>
        <dsp:cNvSpPr/>
      </dsp:nvSpPr>
      <dsp:spPr>
        <a:xfrm>
          <a:off x="4250400" y="282374"/>
          <a:ext cx="1852875" cy="185287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7A5F38-FB2F-490C-83A6-1B758646C82E}">
      <dsp:nvSpPr>
        <dsp:cNvPr id="0" name=""/>
        <dsp:cNvSpPr/>
      </dsp:nvSpPr>
      <dsp:spPr>
        <a:xfrm>
          <a:off x="4645275" y="677249"/>
          <a:ext cx="1063125" cy="10631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7C9D6B-3CBD-414B-9726-F80DBD3EE1D5}">
      <dsp:nvSpPr>
        <dsp:cNvPr id="0" name=""/>
        <dsp:cNvSpPr/>
      </dsp:nvSpPr>
      <dsp:spPr>
        <a:xfrm>
          <a:off x="3658087" y="2712375"/>
          <a:ext cx="30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b="1" i="0" kern="1200"/>
            <a:t>Noise Cancellation in Headphones</a:t>
          </a:r>
          <a:endParaRPr lang="en-US" sz="2100" kern="1200"/>
        </a:p>
      </dsp:txBody>
      <dsp:txXfrm>
        <a:off x="3658087" y="2712375"/>
        <a:ext cx="3037500" cy="720000"/>
      </dsp:txXfrm>
    </dsp:sp>
    <dsp:sp modelId="{7C1EA757-54A1-4167-90BE-34D4F10098F0}">
      <dsp:nvSpPr>
        <dsp:cNvPr id="0" name=""/>
        <dsp:cNvSpPr/>
      </dsp:nvSpPr>
      <dsp:spPr>
        <a:xfrm>
          <a:off x="7819462" y="282374"/>
          <a:ext cx="1852875" cy="185287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F5CBC1-08C5-4C96-A700-7A6432290EF5}">
      <dsp:nvSpPr>
        <dsp:cNvPr id="0" name=""/>
        <dsp:cNvSpPr/>
      </dsp:nvSpPr>
      <dsp:spPr>
        <a:xfrm>
          <a:off x="8214337" y="677249"/>
          <a:ext cx="1063125" cy="10631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F7C81F-F93D-4195-8D50-DC45EA3AB3AD}">
      <dsp:nvSpPr>
        <dsp:cNvPr id="0" name=""/>
        <dsp:cNvSpPr/>
      </dsp:nvSpPr>
      <dsp:spPr>
        <a:xfrm>
          <a:off x="7227150" y="2712375"/>
          <a:ext cx="30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b="1" i="0" kern="1200"/>
            <a:t>Voice Assistants</a:t>
          </a:r>
          <a:endParaRPr lang="en-US" sz="2100" kern="1200"/>
        </a:p>
      </dsp:txBody>
      <dsp:txXfrm>
        <a:off x="7227150" y="2712375"/>
        <a:ext cx="30375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11/26/2023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4888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11/26/2023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9959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11/26/2023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457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11/26/2023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035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11/26/2023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044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11/26/2023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666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11/26/2023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796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11/26/2023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074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11/26/2023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5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11/26/2023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150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11/26/2023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713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11/26/2023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61486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11/26/2023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0873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11/26/2023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7694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11/26/2023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1537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11/26/2023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4275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11/26/2023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832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11/26/2023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9350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42" r:id="rId12"/>
    <p:sldLayoutId id="2147483737" r:id="rId13"/>
    <p:sldLayoutId id="2147483738" r:id="rId14"/>
    <p:sldLayoutId id="2147483739" r:id="rId15"/>
    <p:sldLayoutId id="2147483740" r:id="rId16"/>
    <p:sldLayoutId id="2147483741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sv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66CDA4A-6CAA-4FED-A424-FF9D363E9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D204F7-1BD9-E168-3209-5656CD9041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4435229"/>
            <a:ext cx="9440034" cy="1059644"/>
          </a:xfrm>
        </p:spPr>
        <p:txBody>
          <a:bodyPr>
            <a:normAutofit/>
          </a:bodyPr>
          <a:lstStyle/>
          <a:p>
            <a:r>
              <a:rPr lang="en-US" sz="4800"/>
              <a:t>Audio Source Separation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E43719-91CA-DCA9-74A6-4E60037A3E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5494872"/>
            <a:ext cx="9440034" cy="652432"/>
          </a:xfrm>
        </p:spPr>
        <p:txBody>
          <a:bodyPr>
            <a:normAutofit/>
          </a:bodyPr>
          <a:lstStyle/>
          <a:p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B0DB875-49E3-4B9D-8AAE-D81A127B6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pic>
        <p:nvPicPr>
          <p:cNvPr id="6" name="Picture 5" descr="A diagram of a source separation&#10;&#10;Description automatically generated">
            <a:extLst>
              <a:ext uri="{FF2B5EF4-FFF2-40B4-BE49-F238E27FC236}">
                <a16:creationId xmlns:a16="http://schemas.microsoft.com/office/drawing/2014/main" id="{7415CA37-44A5-B888-804B-83523D4577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349" y="1377629"/>
            <a:ext cx="4765785" cy="2156518"/>
          </a:xfrm>
          <a:prstGeom prst="rect">
            <a:avLst/>
          </a:prstGeom>
        </p:spPr>
      </p:pic>
      <p:pic>
        <p:nvPicPr>
          <p:cNvPr id="14" name="Picture 13" descr="A close-up of a network&#10;&#10;Description automatically generated">
            <a:extLst>
              <a:ext uri="{FF2B5EF4-FFF2-40B4-BE49-F238E27FC236}">
                <a16:creationId xmlns:a16="http://schemas.microsoft.com/office/drawing/2014/main" id="{6B38547C-BC42-6A8B-8BF4-C153BB9262B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3264" r="13406" b="-1"/>
          <a:stretch/>
        </p:blipFill>
        <p:spPr>
          <a:xfrm>
            <a:off x="7460642" y="695008"/>
            <a:ext cx="2350277" cy="3525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146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C0FE9A7-4DAF-43C6-B6C7-AF2D46FAD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Freeform 5">
            <a:extLst>
              <a:ext uri="{FF2B5EF4-FFF2-40B4-BE49-F238E27FC236}">
                <a16:creationId xmlns:a16="http://schemas.microsoft.com/office/drawing/2014/main" id="{37D54B6C-87D0-4C03-8335-3955179D2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-118536" y="1371603"/>
            <a:ext cx="5624423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47B9EB-D8CD-7014-0FB4-2B0DBCD5C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845388"/>
            <a:ext cx="3596420" cy="979016"/>
          </a:xfrm>
        </p:spPr>
        <p:txBody>
          <a:bodyPr anchor="b">
            <a:normAutofit/>
          </a:bodyPr>
          <a:lstStyle/>
          <a:p>
            <a:pPr algn="l"/>
            <a:r>
              <a:rPr lang="en-US" sz="2400"/>
              <a:t>Cocktail Party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96D1C-FADE-8126-0FEC-234A40256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968237"/>
            <a:ext cx="3531684" cy="3679189"/>
          </a:xfrm>
        </p:spPr>
        <p:txBody>
          <a:bodyPr anchor="t">
            <a:normAutofit/>
          </a:bodyPr>
          <a:lstStyle/>
          <a:p>
            <a:r>
              <a:rPr lang="en-US" sz="1600"/>
              <a:t>An old problem in signal processing and computational neuroscience,  refers to how people or machines can distinguish and understand individual sounds or voices in a noisy, crowded setting that is similar to a busy cocktail party.</a:t>
            </a:r>
          </a:p>
        </p:txBody>
      </p:sp>
      <p:pic>
        <p:nvPicPr>
          <p:cNvPr id="5" name="Picture 4" descr="A group of people standing together&#10;&#10;Description automatically generated">
            <a:extLst>
              <a:ext uri="{FF2B5EF4-FFF2-40B4-BE49-F238E27FC236}">
                <a16:creationId xmlns:a16="http://schemas.microsoft.com/office/drawing/2014/main" id="{96043C97-B6CD-DF61-27E3-3973B6CA0A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8094" y="1453872"/>
            <a:ext cx="2557070" cy="3998026"/>
          </a:xfrm>
          <a:prstGeom prst="rect">
            <a:avLst/>
          </a:prstGeom>
        </p:spPr>
      </p:pic>
      <p:pic>
        <p:nvPicPr>
          <p:cNvPr id="7" name="Picture 6" descr="A black and white image of a human head&#10;&#10;Description automatically generated">
            <a:extLst>
              <a:ext uri="{FF2B5EF4-FFF2-40B4-BE49-F238E27FC236}">
                <a16:creationId xmlns:a16="http://schemas.microsoft.com/office/drawing/2014/main" id="{912DD312-2A60-4062-A98A-A811C0D17F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8417" y="1920527"/>
            <a:ext cx="3080117" cy="306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741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58B4E-40C4-6021-0D4E-6FCFA5295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</p:spPr>
        <p:txBody>
          <a:bodyPr>
            <a:normAutofit/>
          </a:bodyPr>
          <a:lstStyle/>
          <a:p>
            <a:r>
              <a:rPr lang="en-US" dirty="0"/>
              <a:t>Applications of Source Separation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36CE7C9-BFF0-6DD6-FDFE-C223806F42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4087343"/>
              </p:ext>
            </p:extLst>
          </p:nvPr>
        </p:nvGraphicFramePr>
        <p:xfrm>
          <a:off x="914400" y="2076450"/>
          <a:ext cx="10353675" cy="3714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41017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E70A317-DCED-4E80-AA2D-467D8702E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1841D-F76D-05AC-264E-428FF6DE8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791" y="835383"/>
            <a:ext cx="3382832" cy="349954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200"/>
              <a:t>Music Separation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50014-69EA-B677-46C6-D767C1230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1789" y="4334933"/>
            <a:ext cx="3382831" cy="118533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0" i="0">
                <a:solidFill>
                  <a:srgbClr val="C34D91"/>
                </a:solidFill>
              </a:rPr>
              <a:t>Separation of instrument tracks in music recordings, remixing, or enhancing audio quality.</a:t>
            </a:r>
            <a:endParaRPr lang="en-US" sz="2000">
              <a:solidFill>
                <a:srgbClr val="C34D9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D87845-294F-40CB-BC48-46455460D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5671" y="0"/>
            <a:ext cx="753632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DJ">
            <a:extLst>
              <a:ext uri="{FF2B5EF4-FFF2-40B4-BE49-F238E27FC236}">
                <a16:creationId xmlns:a16="http://schemas.microsoft.com/office/drawing/2014/main" id="{FFD3428A-3A6A-FFB2-C14D-58A66D4EAC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03749" y="609600"/>
            <a:ext cx="5638800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476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1B3897FC-A693-4656-8FCD-CF609C3B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8CE9DA-F3B7-8ACF-F161-A71C83E30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900" y="643467"/>
            <a:ext cx="3946393" cy="1956298"/>
          </a:xfrm>
        </p:spPr>
        <p:txBody>
          <a:bodyPr>
            <a:normAutofit/>
          </a:bodyPr>
          <a:lstStyle/>
          <a:p>
            <a:pPr algn="l"/>
            <a:r>
              <a:rPr lang="en-US" sz="3600"/>
              <a:t>Most common model for music separation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C7D19-80A3-3693-A78E-779B1225E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9768" y="643467"/>
            <a:ext cx="6430560" cy="1956298"/>
          </a:xfrm>
        </p:spPr>
        <p:txBody>
          <a:bodyPr anchor="ctr">
            <a:normAutofit/>
          </a:bodyPr>
          <a:lstStyle/>
          <a:p>
            <a:pPr>
              <a:buClr>
                <a:srgbClr val="C34D91"/>
              </a:buClr>
            </a:pPr>
            <a:r>
              <a:rPr lang="en-US" b="0" i="0">
                <a:effectLst/>
                <a:latin typeface="+mj-lt"/>
              </a:rPr>
              <a:t>U-Net: Neural network with encoding (contracting) and decoding (expanding) paths for precise image segmentation.</a:t>
            </a:r>
            <a:endParaRPr lang="en-US">
              <a:latin typeface="+mj-lt"/>
            </a:endParaRPr>
          </a:p>
        </p:txBody>
      </p:sp>
      <p:pic>
        <p:nvPicPr>
          <p:cNvPr id="12" name="Picture 11" descr="A diagram of a computer system&#10;&#10;Description automatically generated">
            <a:extLst>
              <a:ext uri="{FF2B5EF4-FFF2-40B4-BE49-F238E27FC236}">
                <a16:creationId xmlns:a16="http://schemas.microsoft.com/office/drawing/2014/main" id="{8524921C-D696-535F-213C-1DE0428DBA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960" y="2952377"/>
            <a:ext cx="7917875" cy="3107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749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28CDD186-03E3-4AED-BEB6-0B3BEC2080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A14808-440E-1E28-D56D-41B473A78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599"/>
            <a:ext cx="5978072" cy="1174075"/>
          </a:xfrm>
        </p:spPr>
        <p:txBody>
          <a:bodyPr>
            <a:normAutofit/>
          </a:bodyPr>
          <a:lstStyle/>
          <a:p>
            <a:r>
              <a:rPr lang="en-US" sz="3900"/>
              <a:t>Algorithms that use U-net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9D28F-952C-D984-4B46-3D5A61BBC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972101"/>
            <a:ext cx="5978072" cy="3722748"/>
          </a:xfrm>
        </p:spPr>
        <p:txBody>
          <a:bodyPr anchor="ctr">
            <a:normAutofit/>
          </a:bodyPr>
          <a:lstStyle/>
          <a:p>
            <a:pPr>
              <a:buClr>
                <a:srgbClr val="C34D91"/>
              </a:buClr>
            </a:pPr>
            <a:r>
              <a:rPr lang="en-US" b="1" i="0" dirty="0" err="1">
                <a:effectLst/>
                <a:latin typeface="Söhne"/>
              </a:rPr>
              <a:t>Demucs</a:t>
            </a:r>
            <a:r>
              <a:rPr lang="en-US" b="1" i="0" dirty="0">
                <a:effectLst/>
                <a:latin typeface="Söhne"/>
              </a:rPr>
              <a:t> (Deep Extractor for Music Sources)</a:t>
            </a:r>
          </a:p>
          <a:p>
            <a:pPr>
              <a:buClr>
                <a:srgbClr val="C34D91"/>
              </a:buClr>
            </a:pPr>
            <a:r>
              <a:rPr lang="en-US" b="1" i="0" dirty="0" err="1">
                <a:effectLst/>
                <a:latin typeface="Söhne"/>
              </a:rPr>
              <a:t>Spleeter</a:t>
            </a:r>
            <a:endParaRPr lang="en-US" b="1" i="0" dirty="0">
              <a:effectLst/>
              <a:latin typeface="Söhne"/>
            </a:endParaRPr>
          </a:p>
          <a:p>
            <a:pPr>
              <a:buClr>
                <a:srgbClr val="C34D91"/>
              </a:buClr>
            </a:pPr>
            <a:r>
              <a:rPr lang="en-US" b="1" i="0" dirty="0">
                <a:effectLst/>
                <a:latin typeface="Söhne"/>
              </a:rPr>
              <a:t>Open-Unmix</a:t>
            </a:r>
            <a:endParaRPr lang="en-US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CF706DA-13E8-4A4F-9260-551FB8127B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7232905" y="1"/>
            <a:ext cx="4959095" cy="6858000"/>
          </a:xfrm>
          <a:prstGeom prst="rect">
            <a:avLst/>
          </a:prstGeom>
        </p:spPr>
      </p:pic>
      <p:pic>
        <p:nvPicPr>
          <p:cNvPr id="13" name="Picture 12" descr="Close-up of knobs on amplifier">
            <a:extLst>
              <a:ext uri="{FF2B5EF4-FFF2-40B4-BE49-F238E27FC236}">
                <a16:creationId xmlns:a16="http://schemas.microsoft.com/office/drawing/2014/main" id="{CE688C9A-EB73-317F-C4C0-CE748614EC0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9755" r="17985" b="1"/>
          <a:stretch/>
        </p:blipFill>
        <p:spPr>
          <a:xfrm>
            <a:off x="7552945" y="643465"/>
            <a:ext cx="3995592" cy="5103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955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8CDD186-03E3-4AED-BEB6-0B3BEC2080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B2E2C8-0A0F-C7B3-F29C-6B744B4CC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599"/>
            <a:ext cx="5978072" cy="117407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Quality Comparison</a:t>
            </a: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5C06D34F-BF65-ABC5-D513-FB0B5AF86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972101"/>
            <a:ext cx="5978072" cy="3722748"/>
          </a:xfrm>
        </p:spPr>
        <p:txBody>
          <a:bodyPr anchor="ctr">
            <a:normAutofit/>
          </a:bodyPr>
          <a:lstStyle/>
          <a:p>
            <a:pPr>
              <a:buClr>
                <a:srgbClr val="C34D91"/>
              </a:buClr>
            </a:pPr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CF706DA-13E8-4A4F-9260-551FB8127B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7232905" y="1"/>
            <a:ext cx="4959095" cy="6858000"/>
          </a:xfrm>
          <a:prstGeom prst="rect">
            <a:avLst/>
          </a:prstGeom>
        </p:spPr>
      </p:pic>
      <p:pic>
        <p:nvPicPr>
          <p:cNvPr id="5" name="Content Placeholder 4" descr="A table with text on it&#10;&#10;Description automatically generated">
            <a:extLst>
              <a:ext uri="{FF2B5EF4-FFF2-40B4-BE49-F238E27FC236}">
                <a16:creationId xmlns:a16="http://schemas.microsoft.com/office/drawing/2014/main" id="{523B08E7-54A4-945D-B823-05E554E0898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5" r="36893" b="-2"/>
          <a:stretch/>
        </p:blipFill>
        <p:spPr>
          <a:xfrm>
            <a:off x="7552945" y="643465"/>
            <a:ext cx="3995592" cy="5103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814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3C5B6-ADC1-13EE-635D-41804C9C1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865978"/>
            <a:ext cx="3185866" cy="1979597"/>
          </a:xfrm>
        </p:spPr>
        <p:txBody>
          <a:bodyPr anchor="ctr">
            <a:normAutofit/>
          </a:bodyPr>
          <a:lstStyle/>
          <a:p>
            <a:pPr algn="r"/>
            <a:r>
              <a:rPr lang="en-US" sz="3600"/>
              <a:t>Software Examples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DBA5AD-10C8-4C9E-A2E4-37834152A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0410" y="773380"/>
            <a:ext cx="3200400" cy="2743200"/>
          </a:xfrm>
          <a:prstGeom prst="rect">
            <a:avLst/>
          </a:prstGeom>
          <a:solidFill>
            <a:schemeClr val="tx1"/>
          </a:solidFill>
          <a:ln w="190500">
            <a:solidFill>
              <a:schemeClr val="tx1">
                <a:alpha val="7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68215F4D-2779-A00E-E9F9-255B49F7F0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68" y="1380069"/>
            <a:ext cx="2719685" cy="152982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EF67420-C2EF-496D-8511-54DA2D6E3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48837" y="773380"/>
            <a:ext cx="3200400" cy="2743200"/>
          </a:xfrm>
          <a:prstGeom prst="rect">
            <a:avLst/>
          </a:prstGeom>
          <a:solidFill>
            <a:schemeClr val="tx1"/>
          </a:solidFill>
          <a:ln w="190500">
            <a:solidFill>
              <a:schemeClr val="tx1">
                <a:alpha val="7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8B34E320-E661-396D-CFE8-100B1EC4C1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4411" y="1012424"/>
            <a:ext cx="2649253" cy="226511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3926F8AF-45D6-46BD-B4AF-64E8AA6877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97264" y="759482"/>
            <a:ext cx="3200400" cy="2743200"/>
          </a:xfrm>
          <a:prstGeom prst="rect">
            <a:avLst/>
          </a:prstGeom>
          <a:solidFill>
            <a:schemeClr val="tx1"/>
          </a:solidFill>
          <a:ln w="190500">
            <a:solidFill>
              <a:schemeClr val="tx1">
                <a:alpha val="7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2C835D79-A083-977C-CC95-82BF9A7006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5658" y="1282824"/>
            <a:ext cx="2703613" cy="169651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DE1CB-E8AF-59C0-8E9A-72603D71D2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1165" y="3881658"/>
            <a:ext cx="6786391" cy="1909542"/>
          </a:xfrm>
        </p:spPr>
        <p:txBody>
          <a:bodyPr anchor="ctr">
            <a:normAutofit/>
          </a:bodyPr>
          <a:lstStyle/>
          <a:p>
            <a:r>
              <a:rPr lang="en-US" dirty="0"/>
              <a:t>UVR (Ultimate Vocal Remover)</a:t>
            </a:r>
          </a:p>
          <a:p>
            <a:r>
              <a:rPr lang="en-US" dirty="0"/>
              <a:t>MVSEP</a:t>
            </a:r>
          </a:p>
          <a:p>
            <a:r>
              <a:rPr lang="en-US" dirty="0"/>
              <a:t>Moises</a:t>
            </a:r>
          </a:p>
        </p:txBody>
      </p:sp>
    </p:spTree>
    <p:extLst>
      <p:ext uri="{BB962C8B-B14F-4D97-AF65-F5344CB8AC3E}">
        <p14:creationId xmlns:p14="http://schemas.microsoft.com/office/powerpoint/2010/main" val="413608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98FD4FC-479A-4C2B-84A5-CF81E055F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 5">
            <a:extLst>
              <a:ext uri="{FF2B5EF4-FFF2-40B4-BE49-F238E27FC236}">
                <a16:creationId xmlns:a16="http://schemas.microsoft.com/office/drawing/2014/main" id="{37D54B6C-87D0-4C03-8335-3955179D2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-118536" y="1371603"/>
            <a:ext cx="5624423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B99183-93F4-D18E-315E-A4737864F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905" y="845387"/>
            <a:ext cx="3470310" cy="1066689"/>
          </a:xfrm>
        </p:spPr>
        <p:txBody>
          <a:bodyPr anchor="b">
            <a:normAutofit/>
          </a:bodyPr>
          <a:lstStyle/>
          <a:p>
            <a:pPr algn="l"/>
            <a:r>
              <a:rPr lang="en-US" sz="2400" b="0" i="0">
                <a:effectLst/>
                <a:latin typeface="Söhne"/>
              </a:rPr>
              <a:t>Noise cancellation</a:t>
            </a:r>
            <a:endParaRPr lang="en-US" sz="2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A53E4-DF28-CF1E-A999-568466B41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9905" y="2147862"/>
            <a:ext cx="3405573" cy="3499563"/>
          </a:xfrm>
        </p:spPr>
        <p:txBody>
          <a:bodyPr anchor="t">
            <a:normAutofit/>
          </a:bodyPr>
          <a:lstStyle/>
          <a:p>
            <a:r>
              <a:rPr lang="en-US" sz="1600" b="0" i="0" dirty="0">
                <a:effectLst/>
                <a:latin typeface="Söhne"/>
              </a:rPr>
              <a:t>involves isolating and removing unwanted noise from a mixed audio signal by leveraging techniques of separating the noise source from the desired audio source.</a:t>
            </a:r>
            <a:endParaRPr lang="en-US" sz="1600" dirty="0"/>
          </a:p>
        </p:txBody>
      </p:sp>
      <p:pic>
        <p:nvPicPr>
          <p:cNvPr id="7" name="Graphic 6" descr="Microphone">
            <a:extLst>
              <a:ext uri="{FF2B5EF4-FFF2-40B4-BE49-F238E27FC236}">
                <a16:creationId xmlns:a16="http://schemas.microsoft.com/office/drawing/2014/main" id="{D6B1EF2E-17AF-1CED-3E4C-25D06E72BC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77536" y="643467"/>
            <a:ext cx="5580812" cy="5580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380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B3897FC-A693-4656-8FCD-CF609C3B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DBD52D-DC4D-CA0F-4D66-D08E9B2E7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900" y="643467"/>
            <a:ext cx="3946393" cy="1956298"/>
          </a:xfrm>
        </p:spPr>
        <p:txBody>
          <a:bodyPr>
            <a:normAutofit/>
          </a:bodyPr>
          <a:lstStyle/>
          <a:p>
            <a:pPr algn="l"/>
            <a:r>
              <a:rPr lang="en-US" sz="3600"/>
              <a:t>Blind Source Separation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968F8-0E2D-7ECC-7BBA-B696077B9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9768" y="643467"/>
            <a:ext cx="6430560" cy="1956298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b="1" i="0">
                <a:effectLst/>
                <a:latin typeface="Söhne"/>
              </a:rPr>
              <a:t>Input:</a:t>
            </a:r>
            <a:r>
              <a:rPr lang="en-US" sz="1400" b="0" i="0">
                <a:effectLst/>
                <a:latin typeface="Söhne"/>
              </a:rPr>
              <a:t> The mixed audio signals (</a:t>
            </a:r>
            <a:r>
              <a:rPr lang="en-US" sz="1400" b="1" i="0">
                <a:effectLst/>
                <a:latin typeface="Söhne"/>
              </a:rPr>
              <a:t>X</a:t>
            </a:r>
            <a:r>
              <a:rPr lang="en-US" sz="1400" b="0" i="0">
                <a:effectLst/>
                <a:latin typeface="Söhne"/>
              </a:rPr>
              <a:t>) are fed into the ICA algorithm.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b="1" i="0">
                <a:effectLst/>
                <a:latin typeface="Söhne"/>
              </a:rPr>
              <a:t>Estimation:</a:t>
            </a:r>
            <a:r>
              <a:rPr lang="en-US" sz="1400" b="0" i="0">
                <a:effectLst/>
                <a:latin typeface="Söhne"/>
              </a:rPr>
              <a:t> ICA estimates the unmixing matrix (</a:t>
            </a:r>
            <a:r>
              <a:rPr lang="en-US" sz="1400" b="1" i="0">
                <a:effectLst/>
                <a:latin typeface="Söhne"/>
              </a:rPr>
              <a:t>A^(-1)</a:t>
            </a:r>
            <a:r>
              <a:rPr lang="en-US" sz="1400" b="0" i="0">
                <a:effectLst/>
                <a:latin typeface="Söhne"/>
              </a:rPr>
              <a:t>) that, when multiplied by the mixed signals, separates them into independent sources (</a:t>
            </a:r>
            <a:r>
              <a:rPr lang="en-US" sz="1400" b="1" i="0">
                <a:effectLst/>
                <a:latin typeface="Söhne"/>
              </a:rPr>
              <a:t>S</a:t>
            </a:r>
            <a:r>
              <a:rPr lang="en-US" sz="1400" b="0" i="0">
                <a:effectLst/>
                <a:latin typeface="Söhne"/>
              </a:rPr>
              <a:t>).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b="1" i="0">
                <a:effectLst/>
                <a:latin typeface="Söhne"/>
              </a:rPr>
              <a:t>Output:</a:t>
            </a:r>
            <a:r>
              <a:rPr lang="en-US" sz="1400" b="0" i="0">
                <a:effectLst/>
                <a:latin typeface="Söhne"/>
              </a:rPr>
              <a:t> The output would ideally be individual tracks of each instrument playing, extracted from the mixed recording, allowing for separate analysis or processing.</a:t>
            </a:r>
          </a:p>
          <a:p>
            <a:pPr>
              <a:lnSpc>
                <a:spcPct val="100000"/>
              </a:lnSpc>
            </a:pPr>
            <a:endParaRPr lang="en-US" sz="1400" b="0" i="0">
              <a:effectLst/>
              <a:latin typeface="Söhne"/>
            </a:endParaRPr>
          </a:p>
        </p:txBody>
      </p:sp>
      <p:pic>
        <p:nvPicPr>
          <p:cNvPr id="6" name="Picture 5" descr="A diagram of a data processing process&#10;&#10;Description automatically generated">
            <a:extLst>
              <a:ext uri="{FF2B5EF4-FFF2-40B4-BE49-F238E27FC236}">
                <a16:creationId xmlns:a16="http://schemas.microsoft.com/office/drawing/2014/main" id="{88B71B89-7D77-8D89-391C-8DA2FE7D94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168" y="2952377"/>
            <a:ext cx="7701460" cy="3107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688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AB646F-3BE3-47A3-B14F-9CB84F6BF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DB305-AAFF-EC59-008D-A78BD6B2A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599"/>
            <a:ext cx="5978072" cy="148115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31A35-C729-A7CA-6FFA-CA3B580D1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279176"/>
            <a:ext cx="5978072" cy="3415672"/>
          </a:xfrm>
        </p:spPr>
        <p:txBody>
          <a:bodyPr anchor="ctr">
            <a:normAutofit/>
          </a:bodyPr>
          <a:lstStyle/>
          <a:p>
            <a:r>
              <a:rPr lang="en-US" dirty="0"/>
              <a:t>Though strong, ICA and related BSS algorithms may encounter difficulties in complicated or practical situations due to their reliance on specific assumptions regarding the statistical characteristics of the signals. In a variety of applications, they are useful tools for breaking down mixed signals into their component sources, though.</a:t>
            </a:r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E7215B15-2737-F5C4-F8B5-D2AD5BA9335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895" r="23608"/>
          <a:stretch/>
        </p:blipFill>
        <p:spPr>
          <a:xfrm>
            <a:off x="7620351" y="10"/>
            <a:ext cx="4571649" cy="68579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0BE7827-5B1A-4F37-BF70-19F7C5C6B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7501468" y="1"/>
            <a:ext cx="46905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2611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AB646F-3BE3-47A3-B14F-9CB84F6BF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74A626-D983-CDD1-52C5-2555A9713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599"/>
            <a:ext cx="5978072" cy="1481150"/>
          </a:xfrm>
        </p:spPr>
        <p:txBody>
          <a:bodyPr>
            <a:normAutofit/>
          </a:bodyPr>
          <a:lstStyle/>
          <a:p>
            <a:r>
              <a:rPr lang="en-US" dirty="0"/>
              <a:t>Noise Cancellation Examples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5A4EB34-51BF-0C91-E74A-D75939EBE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279176"/>
            <a:ext cx="5978072" cy="3415672"/>
          </a:xfrm>
        </p:spPr>
        <p:txBody>
          <a:bodyPr anchor="ctr">
            <a:normAutofit/>
          </a:bodyPr>
          <a:lstStyle/>
          <a:p>
            <a:r>
              <a:rPr lang="en-US" dirty="0"/>
              <a:t>Cellphones</a:t>
            </a:r>
          </a:p>
          <a:p>
            <a:r>
              <a:rPr lang="en-US" dirty="0"/>
              <a:t>Voice assistant</a:t>
            </a:r>
          </a:p>
          <a:p>
            <a:r>
              <a:rPr lang="en-US" dirty="0"/>
              <a:t>Discord</a:t>
            </a:r>
          </a:p>
          <a:p>
            <a:endParaRPr lang="en-US" dirty="0"/>
          </a:p>
        </p:txBody>
      </p:sp>
      <p:pic>
        <p:nvPicPr>
          <p:cNvPr id="8" name="Picture 7" descr="Microphone against a white background">
            <a:extLst>
              <a:ext uri="{FF2B5EF4-FFF2-40B4-BE49-F238E27FC236}">
                <a16:creationId xmlns:a16="http://schemas.microsoft.com/office/drawing/2014/main" id="{1C393D47-DA82-2466-1C34-F02AFC807C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919" r="15584" b="-1"/>
          <a:stretch/>
        </p:blipFill>
        <p:spPr>
          <a:xfrm>
            <a:off x="7620351" y="10"/>
            <a:ext cx="4571649" cy="68579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0BE7827-5B1A-4F37-BF70-19F7C5C6B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7501468" y="1"/>
            <a:ext cx="46905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0472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A2456A0-13DF-4BA8-9BDD-168E874C4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3CC44A-B37D-B90D-7172-466D902FB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5978072" cy="1556702"/>
          </a:xfrm>
        </p:spPr>
        <p:txBody>
          <a:bodyPr>
            <a:normAutofit/>
          </a:bodyPr>
          <a:lstStyle/>
          <a:p>
            <a:r>
              <a:rPr lang="en-US" dirty="0"/>
              <a:t>Voice Assistants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62B75-52B8-B1FD-C5B5-9F2406D8F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354729"/>
            <a:ext cx="5978072" cy="3340119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500" b="0" i="0" dirty="0">
                <a:effectLst/>
                <a:latin typeface="Söhne"/>
              </a:rPr>
              <a:t>Voice assistants rely on sophisticated signal processing and machine learning techniques, including aspects akin to voice separation, to accurately recognize and respond to user commands while navigating complex acoustic environments.</a:t>
            </a:r>
            <a:endParaRPr lang="en-US" sz="1500" b="1" i="0" dirty="0">
              <a:effectLst/>
              <a:latin typeface="Söhne"/>
            </a:endParaRPr>
          </a:p>
          <a:p>
            <a:pPr>
              <a:lnSpc>
                <a:spcPct val="100000"/>
              </a:lnSpc>
            </a:pPr>
            <a:r>
              <a:rPr lang="en-US" sz="1500" dirty="0"/>
              <a:t>Challenges</a:t>
            </a:r>
          </a:p>
          <a:p>
            <a:pPr lvl="1">
              <a:lnSpc>
                <a:spcPct val="100000"/>
              </a:lnSpc>
            </a:pPr>
            <a:r>
              <a:rPr lang="en-US" sz="1500" dirty="0"/>
              <a:t>Accurate Recognition</a:t>
            </a:r>
          </a:p>
          <a:p>
            <a:pPr lvl="1">
              <a:lnSpc>
                <a:spcPct val="100000"/>
              </a:lnSpc>
            </a:pPr>
            <a:r>
              <a:rPr lang="en-US" sz="1500" dirty="0"/>
              <a:t>Robustness to Noise</a:t>
            </a:r>
          </a:p>
          <a:p>
            <a:pPr lvl="1">
              <a:lnSpc>
                <a:spcPct val="100000"/>
              </a:lnSpc>
            </a:pPr>
            <a:endParaRPr lang="en-US" sz="15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AEE9CAC-347C-43C2-AE87-6BC5566E6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7232905" y="1"/>
            <a:ext cx="4959095" cy="6858000"/>
          </a:xfrm>
          <a:prstGeom prst="rect">
            <a:avLst/>
          </a:prstGeom>
        </p:spPr>
      </p:pic>
      <p:pic>
        <p:nvPicPr>
          <p:cNvPr id="7" name="Graphic 6" descr="Voice">
            <a:extLst>
              <a:ext uri="{FF2B5EF4-FFF2-40B4-BE49-F238E27FC236}">
                <a16:creationId xmlns:a16="http://schemas.microsoft.com/office/drawing/2014/main" id="{751C797F-DF06-23F7-1888-F4D3C63F54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52945" y="1197355"/>
            <a:ext cx="3995592" cy="399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551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ound wave pattern on pixilated monitor">
            <a:extLst>
              <a:ext uri="{FF2B5EF4-FFF2-40B4-BE49-F238E27FC236}">
                <a16:creationId xmlns:a16="http://schemas.microsoft.com/office/drawing/2014/main" id="{77525B5B-CF8F-4DF7-4121-50C75DCFF4E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781" r="24885"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3B207B-33AF-CC47-71FF-DF3104CC5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rmAutofit/>
          </a:bodyPr>
          <a:lstStyle/>
          <a:p>
            <a:pPr algn="l"/>
            <a:r>
              <a:rPr lang="en-US" sz="320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DB639-656E-F70D-B243-060CC87CC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r>
              <a:rPr lang="en-US" sz="1800" dirty="0"/>
              <a:t>All things considered, audio source separation is still being used in many different domains and industries, helping to improve communication, increase analysis, and produce higher-quality audio.</a:t>
            </a:r>
          </a:p>
        </p:txBody>
      </p:sp>
    </p:spTree>
    <p:extLst>
      <p:ext uri="{BB962C8B-B14F-4D97-AF65-F5344CB8AC3E}">
        <p14:creationId xmlns:p14="http://schemas.microsoft.com/office/powerpoint/2010/main" val="22303861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AnalogousFromRegularSeedRightStep">
      <a:dk1>
        <a:srgbClr val="000000"/>
      </a:dk1>
      <a:lt1>
        <a:srgbClr val="FFFFFF"/>
      </a:lt1>
      <a:dk2>
        <a:srgbClr val="412435"/>
      </a:dk2>
      <a:lt2>
        <a:srgbClr val="E2E8E5"/>
      </a:lt2>
      <a:accent1>
        <a:srgbClr val="C34D91"/>
      </a:accent1>
      <a:accent2>
        <a:srgbClr val="B13B4E"/>
      </a:accent2>
      <a:accent3>
        <a:srgbClr val="C36B4D"/>
      </a:accent3>
      <a:accent4>
        <a:srgbClr val="B18B3B"/>
      </a:accent4>
      <a:accent5>
        <a:srgbClr val="A0AA43"/>
      </a:accent5>
      <a:accent6>
        <a:srgbClr val="75B13B"/>
      </a:accent6>
      <a:hlink>
        <a:srgbClr val="31935A"/>
      </a:hlink>
      <a:folHlink>
        <a:srgbClr val="7F7F7F"/>
      </a:folHlink>
    </a:clrScheme>
    <a:fontScheme name="Slate">
      <a:majorFont>
        <a:latin typeface="Bodoni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oudy Old Style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363</Words>
  <Application>Microsoft Office PowerPoint</Application>
  <PresentationFormat>Widescreen</PresentationFormat>
  <Paragraphs>38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Bodoni MT</vt:lpstr>
      <vt:lpstr>Goudy Old Style</vt:lpstr>
      <vt:lpstr>Söhne</vt:lpstr>
      <vt:lpstr>Wingdings 2</vt:lpstr>
      <vt:lpstr>SlateVTI</vt:lpstr>
      <vt:lpstr>Audio Source Separation</vt:lpstr>
      <vt:lpstr>Cocktail Party Problem</vt:lpstr>
      <vt:lpstr>Applications of Source Separation</vt:lpstr>
      <vt:lpstr>Music Separation</vt:lpstr>
      <vt:lpstr>Most common model for music separation</vt:lpstr>
      <vt:lpstr>Algorithms that use U-net</vt:lpstr>
      <vt:lpstr>Quality Comparison</vt:lpstr>
      <vt:lpstr>Software Examples</vt:lpstr>
      <vt:lpstr>Noise cancellation</vt:lpstr>
      <vt:lpstr>Blind Source Separation</vt:lpstr>
      <vt:lpstr>PowerPoint Presentation</vt:lpstr>
      <vt:lpstr>Noise Cancellation Examples</vt:lpstr>
      <vt:lpstr>Voice Assistants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Audio Source Separation</dc:title>
  <dc:creator>Nelson.Cange</dc:creator>
  <cp:lastModifiedBy>Nelson.Cange</cp:lastModifiedBy>
  <cp:revision>1</cp:revision>
  <dcterms:created xsi:type="dcterms:W3CDTF">2023-11-26T23:57:23Z</dcterms:created>
  <dcterms:modified xsi:type="dcterms:W3CDTF">2023-11-27T04:51:37Z</dcterms:modified>
</cp:coreProperties>
</file>